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9"/>
  </p:notesMasterIdLst>
  <p:handoutMasterIdLst>
    <p:handoutMasterId r:id="rId10"/>
  </p:handoutMasterIdLst>
  <p:sldIdLst>
    <p:sldId id="257" r:id="rId2"/>
    <p:sldId id="260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DAE62A-D99F-45E8-8F1E-8398A366C415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355339E-A8B3-4E96-B26A-62B98246AA83}" type="datetime1">
              <a:rPr lang="hu-HU" smtClean="0"/>
              <a:t>2026. 10. 08.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DBBACF-7D59-4C09-8A13-44D0181A435A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C774C0-759F-4206-9FC4-1513DC3B7B44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9" name="Élőláb helye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Dia számának helye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7CE26-0F92-425F-AAE2-085FB7D3102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ím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990B8C-6534-442D-A364-CFA264F82568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6D24DE-5611-49D0-ACEB-A949B958932D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DEA2F1-37BA-48B0-AC94-A709473EDAF5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Dátum helye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8E36CDD0-238B-4F40-902D-B0ABB84BD03D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10" name="Élőláb helye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Dia számának helye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050160C-9879-40AE-A525-CEAF600ABAE0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126248-8C71-4D39-9544-09D417FBF935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églalap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átum helye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CE80B1-4D46-471D-BE8B-C33022AF0238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12" name="Élőláb helye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Dia számának helye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3467763-A444-456E-9B90-780721D4CC30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églalap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églalap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églalap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Téglalap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hu" dirty="0"/>
              <a:t>Operátorok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hu-HU" dirty="0"/>
              <a:t>K</a:t>
            </a:r>
            <a:r>
              <a:rPr lang="hu" dirty="0"/>
              <a:t>észítette: Jobbágy Szabolcs, Sápi Timót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Kép 5" descr="Egy embléma közelképe&#10;&#10;Automatikusan létrehozott leírá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1BA5A3-CFF5-409F-8BBE-662EF62E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Menüpont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ED6E11-C26A-4287-A5B7-DF39F7DE4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2B65065-6AF6-4CEC-8302-1D1B2BED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7" name="Téglalap 6">
            <a:hlinkClick r:id="rId2" action="ppaction://hlinksldjump"/>
            <a:extLst>
              <a:ext uri="{FF2B5EF4-FFF2-40B4-BE49-F238E27FC236}">
                <a16:creationId xmlns:a16="http://schemas.microsoft.com/office/drawing/2014/main" id="{C455EDA0-3B67-42B8-99E2-23E1FAAFBF12}"/>
              </a:ext>
            </a:extLst>
          </p:cNvPr>
          <p:cNvSpPr/>
          <p:nvPr/>
        </p:nvSpPr>
        <p:spPr>
          <a:xfrm>
            <a:off x="7605950" y="2339440"/>
            <a:ext cx="3084875" cy="169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Relációs</a:t>
            </a:r>
          </a:p>
        </p:txBody>
      </p:sp>
      <p:sp>
        <p:nvSpPr>
          <p:cNvPr id="8" name="Téglalap 7">
            <a:hlinkClick r:id="rId3" action="ppaction://hlinksldjump"/>
            <a:extLst>
              <a:ext uri="{FF2B5EF4-FFF2-40B4-BE49-F238E27FC236}">
                <a16:creationId xmlns:a16="http://schemas.microsoft.com/office/drawing/2014/main" id="{71A80309-0EB8-4165-80D3-5A17C7DBA1CF}"/>
              </a:ext>
            </a:extLst>
          </p:cNvPr>
          <p:cNvSpPr/>
          <p:nvPr/>
        </p:nvSpPr>
        <p:spPr>
          <a:xfrm>
            <a:off x="7605950" y="4284654"/>
            <a:ext cx="3084875" cy="169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Logikai</a:t>
            </a:r>
          </a:p>
        </p:txBody>
      </p:sp>
      <p:sp>
        <p:nvSpPr>
          <p:cNvPr id="9" name="Téglalap 8">
            <a:hlinkClick r:id="rId4" action="ppaction://hlinksldjump"/>
            <a:extLst>
              <a:ext uri="{FF2B5EF4-FFF2-40B4-BE49-F238E27FC236}">
                <a16:creationId xmlns:a16="http://schemas.microsoft.com/office/drawing/2014/main" id="{BE7FF290-FD78-4DDC-A100-51668A580DF9}"/>
              </a:ext>
            </a:extLst>
          </p:cNvPr>
          <p:cNvSpPr/>
          <p:nvPr/>
        </p:nvSpPr>
        <p:spPr>
          <a:xfrm>
            <a:off x="581192" y="2340864"/>
            <a:ext cx="3084875" cy="169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Aritmetikai</a:t>
            </a:r>
          </a:p>
        </p:txBody>
      </p:sp>
      <p:sp>
        <p:nvSpPr>
          <p:cNvPr id="10" name="Téglalap 9">
            <a:hlinkClick r:id="rId5" action="ppaction://hlinksldjump"/>
            <a:extLst>
              <a:ext uri="{FF2B5EF4-FFF2-40B4-BE49-F238E27FC236}">
                <a16:creationId xmlns:a16="http://schemas.microsoft.com/office/drawing/2014/main" id="{4915E666-EDEA-459D-9B3C-6E7BCD3BDF7F}"/>
              </a:ext>
            </a:extLst>
          </p:cNvPr>
          <p:cNvSpPr/>
          <p:nvPr/>
        </p:nvSpPr>
        <p:spPr>
          <a:xfrm>
            <a:off x="581191" y="4284654"/>
            <a:ext cx="3084875" cy="169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Értékadó</a:t>
            </a:r>
          </a:p>
        </p:txBody>
      </p:sp>
      <p:sp>
        <p:nvSpPr>
          <p:cNvPr id="11" name="Téglalap 10">
            <a:hlinkClick r:id="rId6" action="ppaction://hlinksldjump"/>
            <a:extLst>
              <a:ext uri="{FF2B5EF4-FFF2-40B4-BE49-F238E27FC236}">
                <a16:creationId xmlns:a16="http://schemas.microsoft.com/office/drawing/2014/main" id="{9333877A-BA74-4EA7-9480-DC5562DA9A41}"/>
              </a:ext>
            </a:extLst>
          </p:cNvPr>
          <p:cNvSpPr/>
          <p:nvPr/>
        </p:nvSpPr>
        <p:spPr>
          <a:xfrm>
            <a:off x="4093570" y="3439307"/>
            <a:ext cx="3084875" cy="169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/>
              <a:t>Feltételes</a:t>
            </a:r>
          </a:p>
        </p:txBody>
      </p:sp>
    </p:spTree>
    <p:extLst>
      <p:ext uri="{BB962C8B-B14F-4D97-AF65-F5344CB8AC3E}">
        <p14:creationId xmlns:p14="http://schemas.microsoft.com/office/powerpoint/2010/main" val="189389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253C7C-5F12-49A1-AB46-19FA4F47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Aritmetikai operátorok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1B19FE7-AFBC-4A41-9BA6-D1887318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C1C0A1-4098-476D-AD0B-EFC4B3CCB5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542" y="2136825"/>
            <a:ext cx="1194491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rial Unicode MS" panose="020B0604020202020204" pitchFamily="34" charset="-128"/>
              </a:rPr>
              <a:t>+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Összeadás (vagy 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sztringek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összefűzése)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Kivonás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Szorzás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Osztás (ha mindkét operandus egész szám, az eredmény is egész szám lesz, a maradék elhagyásával)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%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Maradékos osztás (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modulo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például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7 % 3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eredménye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Nyíl: szalag, lefelé mutató 6">
            <a:hlinkClick r:id="rId2" action="ppaction://hlinksldjump"/>
            <a:extLst>
              <a:ext uri="{FF2B5EF4-FFF2-40B4-BE49-F238E27FC236}">
                <a16:creationId xmlns:a16="http://schemas.microsoft.com/office/drawing/2014/main" id="{794FBE08-5281-46C3-A4EC-283D616957B6}"/>
              </a:ext>
            </a:extLst>
          </p:cNvPr>
          <p:cNvSpPr/>
          <p:nvPr/>
        </p:nvSpPr>
        <p:spPr>
          <a:xfrm>
            <a:off x="10800001" y="702156"/>
            <a:ext cx="1063869" cy="82770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B0FD683-B666-44EC-AD36-CAB983B06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19" y="4682895"/>
            <a:ext cx="4881348" cy="192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5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7009FD-7CD3-4A38-8DD4-E880408D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Értékadó operátorok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6021191-98F9-4CB1-96DD-ED26805C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EC8B135-9C91-4E5A-A9AF-5FE682134B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089545"/>
            <a:ext cx="99132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Egyszerű értékadás (pl.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 x = 10;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+=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Összeadás és értékadás (pl.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x += 5;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ekvivalens azzal, hogy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x = x + 5;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Kivonás és értékadás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*=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Szorzás és értékadás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Osztás és értékadás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%=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Maradékos osztás és értékadás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Nyíl: szalag, lefelé mutató 5">
            <a:hlinkClick r:id="rId2" action="ppaction://hlinksldjump"/>
            <a:extLst>
              <a:ext uri="{FF2B5EF4-FFF2-40B4-BE49-F238E27FC236}">
                <a16:creationId xmlns:a16="http://schemas.microsoft.com/office/drawing/2014/main" id="{89DB962F-79BB-48D1-86BC-A00D38B20EA4}"/>
              </a:ext>
            </a:extLst>
          </p:cNvPr>
          <p:cNvSpPr/>
          <p:nvPr/>
        </p:nvSpPr>
        <p:spPr>
          <a:xfrm>
            <a:off x="10800001" y="702156"/>
            <a:ext cx="1063869" cy="82770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F14FCF3-9A6C-44B9-B713-D3D6D4C36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33618"/>
            <a:ext cx="3878440" cy="2722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33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FEA50D-6FC8-4AF0-947D-10F9ADA2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Relációs operátorok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2F6591-12DD-4427-8C55-6A7591D49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E08A85B-7E05-427C-8756-8BF42D563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0224" y="2026681"/>
            <a:ext cx="37367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Egyenlő-e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!=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Nem egyenlő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Nagyobb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Kisebb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Nagyobb vagy egyenlő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&lt;=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Kisebb vagy egyenlő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Nyíl: szalag, lefelé mutató 5">
            <a:hlinkClick r:id="rId2" action="ppaction://hlinksldjump"/>
            <a:extLst>
              <a:ext uri="{FF2B5EF4-FFF2-40B4-BE49-F238E27FC236}">
                <a16:creationId xmlns:a16="http://schemas.microsoft.com/office/drawing/2014/main" id="{F6833353-384B-4FFB-885C-1DFA138AE4F8}"/>
              </a:ext>
            </a:extLst>
          </p:cNvPr>
          <p:cNvSpPr/>
          <p:nvPr/>
        </p:nvSpPr>
        <p:spPr>
          <a:xfrm>
            <a:off x="10800001" y="702156"/>
            <a:ext cx="1063869" cy="82770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FCAB98A-88B0-47CE-AB77-1DF3C8FB8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830" y="2746348"/>
            <a:ext cx="5606771" cy="2986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843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E997B6-1FF0-4819-9ED5-868244ED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Logikai operátorok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23A6276-0BB5-4CD3-B5CE-C4A6DDCB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F3868A9-AFC5-49D1-A5D7-E45D208420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969386"/>
            <a:ext cx="75269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&amp;&amp;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Logikai ÉS (mindkét feltételnek igaznak kell lennie)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||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Logikai VAGY (elegendő, ha az egyik feltétel igaz)</a:t>
            </a:r>
            <a:endParaRPr kumimoji="0" lang="hu-HU" altLang="hu-H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!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Logikai NEM (megfordítja az értékét, pl. 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!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true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az </a:t>
            </a:r>
            <a:r>
              <a:rPr kumimoji="0" lang="hu-HU" altLang="hu-H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false</a:t>
            </a:r>
            <a:r>
              <a:rPr kumimoji="0" lang="hu-HU" altLang="hu-H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Nyíl: szalag, lefelé mutató 5">
            <a:hlinkClick r:id="rId2" action="ppaction://hlinksldjump"/>
            <a:extLst>
              <a:ext uri="{FF2B5EF4-FFF2-40B4-BE49-F238E27FC236}">
                <a16:creationId xmlns:a16="http://schemas.microsoft.com/office/drawing/2014/main" id="{C69E6706-19C7-4C09-8182-93C75012573A}"/>
              </a:ext>
            </a:extLst>
          </p:cNvPr>
          <p:cNvSpPr/>
          <p:nvPr/>
        </p:nvSpPr>
        <p:spPr>
          <a:xfrm>
            <a:off x="10800001" y="702156"/>
            <a:ext cx="1063869" cy="82770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4ACB948-2856-4191-B1A9-EFD3D9687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126" y="4648200"/>
            <a:ext cx="4845941" cy="17757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9193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18CFDD-44E4-4A61-B2E5-41B9ADE20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Feltételes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9A0DA4-64AC-4DEE-8776-F157EEBF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59A803-987E-4B65-903F-6E262CC9AC91}" type="datetime1">
              <a:rPr lang="hu-HU" smtClean="0"/>
              <a:t>2026. 10. 08.</a:t>
            </a:fld>
            <a:endParaRPr lang="en-US" dirty="0"/>
          </a:p>
        </p:txBody>
      </p:sp>
      <p:sp>
        <p:nvSpPr>
          <p:cNvPr id="5" name="Nyíl: szalag, lefelé mutató 4">
            <a:hlinkClick r:id="rId2" action="ppaction://hlinksldjump"/>
            <a:extLst>
              <a:ext uri="{FF2B5EF4-FFF2-40B4-BE49-F238E27FC236}">
                <a16:creationId xmlns:a16="http://schemas.microsoft.com/office/drawing/2014/main" id="{E4BEDFA6-33D0-48DF-9C58-218A32A22690}"/>
              </a:ext>
            </a:extLst>
          </p:cNvPr>
          <p:cNvSpPr/>
          <p:nvPr/>
        </p:nvSpPr>
        <p:spPr>
          <a:xfrm>
            <a:off x="10800001" y="702156"/>
            <a:ext cx="1063869" cy="827706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3E4269B-FEBC-4D7A-BF15-A3282312F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855841"/>
            <a:ext cx="8578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(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?: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) egy rövidített </a:t>
            </a:r>
            <a:r>
              <a:rPr lang="hu-HU" altLang="hu-HU" sz="2400" dirty="0" err="1">
                <a:solidFill>
                  <a:schemeClr val="tx1"/>
                </a:solidFill>
                <a:latin typeface="Google Sans"/>
              </a:rPr>
              <a:t>if-else</a:t>
            </a:r>
            <a:r>
              <a:rPr lang="hu-HU" altLang="hu-HU" sz="2400" dirty="0">
                <a:solidFill>
                  <a:schemeClr val="tx1"/>
                </a:solidFill>
                <a:latin typeface="Google Sans"/>
              </a:rPr>
              <a:t> elágazás</a:t>
            </a: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, amely három operandust használ</a:t>
            </a:r>
            <a:r>
              <a:rPr kumimoji="0" lang="hu-HU" altLang="hu-H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  <a:r>
              <a:rPr kumimoji="0" lang="hu-HU" altLang="hu-H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76A2663-F9FC-47F9-8270-09BB05628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3796824"/>
            <a:ext cx="7681273" cy="10207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9582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33_TF33552983" id="{B3EE83EE-CCFB-4CB3-9AFB-F793C354D2BB}" vid="{A0A712A1-0E18-4ECB-AC9C-D8B615D25E2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{17A0D035-8CF2-46C8-BAF8-41AC76669602}TF201209c3-d067-44f9-a26f-c8f216c443133f56370f_win32-6e0c0817a995</Template>
  <TotalTime>0</TotalTime>
  <Words>207</Words>
  <Application>Microsoft Office PowerPoint</Application>
  <PresentationFormat>Szélesvásznú</PresentationFormat>
  <Paragraphs>40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8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6" baseType="lpstr">
      <vt:lpstr>Arial Unicode MS</vt:lpstr>
      <vt:lpstr>Arial</vt:lpstr>
      <vt:lpstr>Calibri</vt:lpstr>
      <vt:lpstr>Courier New</vt:lpstr>
      <vt:lpstr>Franklin Gothic Book</vt:lpstr>
      <vt:lpstr>Franklin Gothic Demi</vt:lpstr>
      <vt:lpstr>Google Sans</vt:lpstr>
      <vt:lpstr>Wingdings 2</vt:lpstr>
      <vt:lpstr>DividendVTI</vt:lpstr>
      <vt:lpstr>Operátorok</vt:lpstr>
      <vt:lpstr>Menüpont</vt:lpstr>
      <vt:lpstr>Aritmetikai operátorok</vt:lpstr>
      <vt:lpstr>Értékadó operátorok</vt:lpstr>
      <vt:lpstr>Relációs operátorok</vt:lpstr>
      <vt:lpstr>Logikai operátorok</vt:lpstr>
      <vt:lpstr>Feltételes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</dc:title>
  <dc:creator>Jobbágy Szabolcs</dc:creator>
  <cp:lastModifiedBy>Jobbágy Szabolcs</cp:lastModifiedBy>
  <cp:revision>8</cp:revision>
  <dcterms:created xsi:type="dcterms:W3CDTF">2026-10-01T10:29:19Z</dcterms:created>
  <dcterms:modified xsi:type="dcterms:W3CDTF">2026-10-08T11:47:50Z</dcterms:modified>
</cp:coreProperties>
</file>